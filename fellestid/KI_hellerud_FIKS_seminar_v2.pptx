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9" r:id="rId3"/>
    <p:sldId id="258" r:id="rId4"/>
    <p:sldId id="266" r:id="rId5"/>
    <p:sldId id="262" r:id="rId6"/>
    <p:sldId id="263" r:id="rId7"/>
    <p:sldId id="265" r:id="rId8"/>
    <p:sldId id="264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0"/>
    <p:restoredTop sz="94690"/>
  </p:normalViewPr>
  <p:slideViewPr>
    <p:cSldViewPr snapToGrid="0">
      <p:cViewPr varScale="1">
        <p:scale>
          <a:sx n="113" d="100"/>
          <a:sy n="113" d="100"/>
        </p:scale>
        <p:origin x="200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507F3E8-C5AA-A24D-8550-B0E864005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EF740636-1DDA-B5EA-A576-D5815615B2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24B97B0-FFDA-7334-A451-B45D701E0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81321AE-9887-5611-7F1A-147E0C4B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D606A0D-D16F-BA59-490D-9429C90E2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73813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81F9C6-E380-3844-3950-398F4FD4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DF64FB6-3E07-0E71-ADED-CAD06C9E7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2E06CBB-E7C8-AB3E-5162-13E95535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2726A1B-B1AC-B32A-F5C5-CADDC695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3BADD05-D239-C5C9-6EEC-663427C56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18951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566892F-0DAD-6E21-B52E-1D1D8935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9C138F1-E5DE-28CD-B387-5D8BEDD6F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37E7D713-3E6E-39C5-7B92-0AF843559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D2D3397-0A54-0AB5-422F-2C54DA0F9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1C0A1AF-A8BC-675F-10A6-0326BC68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91630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ADDB93C-37A5-4669-AECA-9CB8DB8EF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5F43458-3764-99E6-2BD6-4FB231187D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7EECCBA-7A25-0AFD-4BF8-30F97A642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EE13BE68-F288-5DC6-7F35-FEEBBA3F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B4D4C3E9-847A-B582-474E-E6BBD3931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CDC50A70-35A7-D60F-E064-CAD2B5EF2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26011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DE18504-AD64-708F-A291-A38C66AC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2E6C93D-4086-EF21-14B4-726165133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CA94E6E-C91C-6832-6A12-0E5DE47EA8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C1C2E153-2079-8944-543B-E034165162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C306B8D0-A2AB-4984-922C-469F31861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90D39B3B-78EF-B19D-F273-4B39C8FB5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744AA768-630D-58C7-D89B-DF746903D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5D7C246-319F-B755-2F98-04232074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42325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602821D-22ED-2C3F-E512-431AAAA76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9B90D7AC-9AEF-20C7-0C62-D6DD4804A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B8FD89D-A9AC-98F5-CBB5-C6E67F0C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163A0841-95D6-8B02-C01B-95A4CDA0C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54083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1BDA725D-42B3-5545-E1D5-3CCDB303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27CD23F-BD24-7FB6-2E34-D3A1AE690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891FB5A-9009-0A49-54A0-88B35D313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6022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1E1F76E-EAE2-DC5D-B427-10D15C40A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0A044D2C-409F-82F3-5D47-8EE14BC1D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5E9E0D29-970C-9AA1-3536-2B43DBE805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798A08FF-77E9-DF5E-1FC3-85C8A64A8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01309C7C-25C0-D920-9C8F-E5632F47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535D88B-57A9-684B-3FB3-35597289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39303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BF451C3-61EA-136B-49C0-56641E717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E7257E80-391C-E5CF-6EA9-FF9CEF4946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C06B5D56-93A7-7A7F-3759-B59610FA6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0FD0C58-CEAF-B59E-F45B-0A991466E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9488573-76BD-96DE-AAC9-E9CC6FD2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773AAE4B-6148-1A5E-2DCE-3E17F442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109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1E08F6E9-54ED-3181-66C2-76CF46969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BB51465-C217-BA5E-505F-AC6400978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74021193-C0C8-94A4-3738-A54707A2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3355A1E-C806-7C8F-EBFB-75014BDD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A1364DD-FB66-A176-E7BA-323B8307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8525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EEA9EC9B-FC24-8072-679A-CA7D369DF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E27A1617-0719-877D-6ABA-A1236BB20A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C7D32E4-4DF0-168E-122B-6220ACEDE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4EBEA65-93D1-1AC4-7BCA-AC24F68DC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DEB372B-D19A-D979-3A57-1F0FB82C2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3534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FA1545DB-9D82-AEDE-6F7A-2FD9D9C96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F05747A2-9371-9DE7-09D9-17869029C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F23C20C5-A7AF-372F-5C41-76991AC1A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88B6FE-2BA0-5946-B8A2-DF193470AFF3}" type="datetimeFigureOut">
              <a:rPr lang="nb-NO" smtClean="0"/>
              <a:t>08.09.2025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A46A967-1991-DC44-B820-A28E5B6D8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8F0266AA-5AEA-8B5D-36A0-6972D62BCD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8E4314-23F2-0B41-86A5-E032F5CF757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58451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9B5620E-EF79-8E17-92FD-E12EF4217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2833324" cy="161620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/>
              <a:t>KI-gruppa – Hellerud vgs</a:t>
            </a:r>
          </a:p>
        </p:txBody>
      </p:sp>
      <p:sp>
        <p:nvSpPr>
          <p:cNvPr id="3" name="TekstSylinder 2">
            <a:extLst>
              <a:ext uri="{FF2B5EF4-FFF2-40B4-BE49-F238E27FC236}">
                <a16:creationId xmlns:a16="http://schemas.microsoft.com/office/drawing/2014/main" id="{46311459-EBB5-785E-1B32-44B2B763F3C7}"/>
              </a:ext>
            </a:extLst>
          </p:cNvPr>
          <p:cNvSpPr txBox="1"/>
          <p:nvPr/>
        </p:nvSpPr>
        <p:spPr>
          <a:xfrm>
            <a:off x="876694" y="2533476"/>
            <a:ext cx="283332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Erling Midtgard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Fagkoordinator</a:t>
            </a:r>
            <a:r>
              <a:rPr lang="en-US" sz="2000" dirty="0"/>
              <a:t> KI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Lektor</a:t>
            </a:r>
            <a:r>
              <a:rPr lang="en-US" sz="2000" dirty="0"/>
              <a:t>: </a:t>
            </a:r>
            <a:r>
              <a:rPr lang="en-US" sz="2000" dirty="0" err="1"/>
              <a:t>Geografi</a:t>
            </a:r>
            <a:r>
              <a:rPr lang="en-US" sz="2000" dirty="0"/>
              <a:t> </a:t>
            </a:r>
            <a:r>
              <a:rPr lang="en-US" sz="2000" dirty="0" err="1"/>
              <a:t>og</a:t>
            </a:r>
            <a:r>
              <a:rPr lang="en-US" sz="2000" dirty="0"/>
              <a:t> </a:t>
            </a:r>
            <a:r>
              <a:rPr lang="en-US" sz="2000" dirty="0" err="1"/>
              <a:t>samfunnskunnskap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Masterstudent</a:t>
            </a:r>
            <a:r>
              <a:rPr lang="en-US" sz="2000" dirty="0"/>
              <a:t> (</a:t>
            </a:r>
            <a:r>
              <a:rPr lang="en-US" sz="2000" dirty="0" err="1"/>
              <a:t>deltid</a:t>
            </a:r>
            <a:r>
              <a:rPr lang="en-US" sz="2000" dirty="0"/>
              <a:t>) -  </a:t>
            </a:r>
            <a:r>
              <a:rPr lang="en-US" sz="2000" dirty="0" err="1"/>
              <a:t>Informatikk</a:t>
            </a:r>
            <a:r>
              <a:rPr lang="en-US" sz="2000" dirty="0"/>
              <a:t>: </a:t>
            </a:r>
            <a:r>
              <a:rPr lang="en-US" sz="2000" dirty="0" err="1"/>
              <a:t>Språkteknologi</a:t>
            </a:r>
            <a:endParaRPr lang="en-US" sz="2000" dirty="0"/>
          </a:p>
        </p:txBody>
      </p:sp>
      <p:pic>
        <p:nvPicPr>
          <p:cNvPr id="1028" name="Picture 4" descr="Hellerud flagg">
            <a:extLst>
              <a:ext uri="{FF2B5EF4-FFF2-40B4-BE49-F238E27FC236}">
                <a16:creationId xmlns:a16="http://schemas.microsoft.com/office/drawing/2014/main" id="{E67D0E6A-EE89-B1E1-3E32-CA3E84F4E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22471" y="1229775"/>
            <a:ext cx="3287840" cy="4398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B4D2E05-064A-9273-3D50-4F8D8AFFA7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83780" y="1861223"/>
            <a:ext cx="3331526" cy="3135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792AA144-DDFF-C43B-6866-516C9091D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6737460"/>
            <a:ext cx="12192000" cy="123364"/>
            <a:chOff x="1" y="6737460"/>
            <a:chExt cx="12192000" cy="123364"/>
          </a:xfrm>
        </p:grpSpPr>
        <p:sp>
          <p:nvSpPr>
            <p:cNvPr id="1063" name="Rectangle 1062">
              <a:extLst>
                <a:ext uri="{FF2B5EF4-FFF2-40B4-BE49-F238E27FC236}">
                  <a16:creationId xmlns:a16="http://schemas.microsoft.com/office/drawing/2014/main" id="{56557A69-9517-26A8-EF3F-E65057EEC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Rectangle 1063">
              <a:extLst>
                <a:ext uri="{FF2B5EF4-FFF2-40B4-BE49-F238E27FC236}">
                  <a16:creationId xmlns:a16="http://schemas.microsoft.com/office/drawing/2014/main" id="{47C5987E-7AB5-0A21-D727-68B38B342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25637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FD9920C-42A9-C6E4-D41B-2876D614F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3600" dirty="0"/>
              <a:t>Utdrag fra mandat for KI-gruppa – </a:t>
            </a:r>
            <a:br>
              <a:rPr lang="nb-NO" sz="3600" dirty="0"/>
            </a:br>
            <a:r>
              <a:rPr lang="nb-NO" sz="3600" dirty="0"/>
              <a:t>utarbeidet av ledelse, tillitsvalgte og fagkoordinatorer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14367AF8-5195-2460-97CE-74367A5C0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2400" b="1" dirty="0"/>
              <a:t>Oppdrag: </a:t>
            </a:r>
          </a:p>
          <a:p>
            <a:pPr lvl="1"/>
            <a:r>
              <a:rPr lang="nb-NO" sz="2000" dirty="0"/>
              <a:t>Anbefale hvordan bruk av KI kan forsterke og videreutvikle læringsprosessene ved Hellerud VGS</a:t>
            </a:r>
          </a:p>
          <a:p>
            <a:pPr lvl="1"/>
            <a:r>
              <a:rPr lang="nb-NO" sz="2000" dirty="0"/>
              <a:t>Foreslå felles retningslinjer og rammer for bruk av KI ved skolen. </a:t>
            </a:r>
          </a:p>
          <a:p>
            <a:pPr lvl="1"/>
            <a:r>
              <a:rPr lang="nb-NO" sz="2000" dirty="0"/>
              <a:t>Gi konkrete eksempler på hvordan KI kan brukes i undervisningen.</a:t>
            </a:r>
          </a:p>
          <a:p>
            <a:pPr lvl="1"/>
            <a:r>
              <a:rPr lang="nb-NO" sz="2000" dirty="0"/>
              <a:t> Fremme samarbeid og dialog om KI mellom elever, ansatte og eksterne eksperter. </a:t>
            </a:r>
            <a:endParaRPr lang="nb-NO" dirty="0"/>
          </a:p>
          <a:p>
            <a:r>
              <a:rPr lang="nb-NO" sz="2400" b="1" dirty="0"/>
              <a:t>Sammensetning og organisering: </a:t>
            </a:r>
            <a:endParaRPr lang="nb-NO" sz="2400" dirty="0"/>
          </a:p>
          <a:p>
            <a:pPr lvl="1" fontAlgn="base"/>
            <a:r>
              <a:rPr lang="nb-NO" sz="2000" b="1" dirty="0"/>
              <a:t>KI-gruppe</a:t>
            </a:r>
            <a:r>
              <a:rPr lang="nb-NO" sz="2000" dirty="0"/>
              <a:t> som består av fire lærere som har faste møtetider og ulik fagbakgrunn. </a:t>
            </a:r>
          </a:p>
          <a:p>
            <a:pPr lvl="2" fontAlgn="base"/>
            <a:r>
              <a:rPr lang="nb-NO" sz="1600" dirty="0"/>
              <a:t>KI-gruppas medlemmer kompenseres for arbeidet. Kompensasjon avgjøres i MBU</a:t>
            </a:r>
          </a:p>
          <a:p>
            <a:pPr lvl="1" fontAlgn="base"/>
            <a:r>
              <a:rPr lang="nb-NO" sz="2000" b="1" dirty="0"/>
              <a:t>Referansegruppa</a:t>
            </a:r>
            <a:r>
              <a:rPr lang="nb-NO" sz="2000" dirty="0"/>
              <a:t> som består av representant fra ledelsen, biblioteket, IT-seksjonen, etc.</a:t>
            </a:r>
          </a:p>
        </p:txBody>
      </p:sp>
    </p:spTree>
    <p:extLst>
      <p:ext uri="{BB962C8B-B14F-4D97-AF65-F5344CB8AC3E}">
        <p14:creationId xmlns:p14="http://schemas.microsoft.com/office/powerpoint/2010/main" val="158899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921A1C-59C5-7359-8433-437E8168C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Bakgrunn for opprettelsen av KI-gruppa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81B109C-9143-8312-CF59-95FFDF78A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b="1" dirty="0"/>
              <a:t>Fire faser</a:t>
            </a:r>
          </a:p>
          <a:p>
            <a:pPr lvl="1"/>
            <a:r>
              <a:rPr lang="nb-NO" dirty="0"/>
              <a:t>Kaosfasen: (2022-2023)</a:t>
            </a:r>
          </a:p>
          <a:p>
            <a:pPr lvl="1"/>
            <a:r>
              <a:rPr lang="nb-NO" dirty="0"/>
              <a:t>«Vi må gjøre noe»-fasen (høst 2023 – vår 24)</a:t>
            </a:r>
          </a:p>
          <a:p>
            <a:pPr lvl="1"/>
            <a:r>
              <a:rPr lang="nb-NO" dirty="0"/>
              <a:t>Oppstartfasen (vårsemesteret 2024) </a:t>
            </a:r>
          </a:p>
          <a:p>
            <a:pPr lvl="1"/>
            <a:r>
              <a:rPr lang="nb-NO" dirty="0"/>
              <a:t>Modningsfasen (høst 2024 -&gt;)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581469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FE237-7DC1-AECA-55FF-C19896601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3A8D0C8-83A4-7E06-D2B8-61A320D8C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719313"/>
            <a:ext cx="10515600" cy="4733219"/>
          </a:xfrm>
        </p:spPr>
        <p:txBody>
          <a:bodyPr/>
          <a:lstStyle/>
          <a:p>
            <a:r>
              <a:rPr lang="nb-NO" b="1" dirty="0"/>
              <a:t>Kaosfasen: (2022-2023)</a:t>
            </a:r>
            <a:endParaRPr lang="nb-NO" dirty="0"/>
          </a:p>
          <a:p>
            <a:pPr lvl="1"/>
            <a:r>
              <a:rPr lang="nb-NO" dirty="0"/>
              <a:t>Lansering av </a:t>
            </a:r>
            <a:r>
              <a:rPr lang="nb-NO" dirty="0" err="1"/>
              <a:t>ChatGPT</a:t>
            </a:r>
            <a:r>
              <a:rPr lang="nb-NO" dirty="0"/>
              <a:t> høsten 2022</a:t>
            </a:r>
          </a:p>
          <a:p>
            <a:pPr lvl="1"/>
            <a:r>
              <a:rPr lang="nb-NO" dirty="0"/>
              <a:t>Usystematisk bruk både blant lærere og elever. </a:t>
            </a:r>
            <a:r>
              <a:rPr lang="nb-NO" dirty="0" err="1"/>
              <a:t>Praterobotene</a:t>
            </a:r>
            <a:r>
              <a:rPr lang="nb-NO" dirty="0"/>
              <a:t> hallusinerer og gjør mange feil. </a:t>
            </a:r>
          </a:p>
          <a:p>
            <a:r>
              <a:rPr lang="nb-NO" b="1" dirty="0"/>
              <a:t>«Vi må gjøre noe»-fasen (høst 2023 – vår 24)</a:t>
            </a:r>
            <a:endParaRPr lang="nb-NO" dirty="0"/>
          </a:p>
          <a:p>
            <a:pPr lvl="1"/>
            <a:r>
              <a:rPr lang="nb-NO" dirty="0"/>
              <a:t>Ledelsen og MBU ser behovet for å ta aktivt tak i utviklingen. </a:t>
            </a:r>
          </a:p>
          <a:p>
            <a:pPr lvl="1"/>
            <a:r>
              <a:rPr lang="nb-NO" dirty="0"/>
              <a:t>Oppretter ei KI-gruppe som består av 4 lærere. </a:t>
            </a:r>
          </a:p>
          <a:p>
            <a:pPr lvl="1"/>
            <a:r>
              <a:rPr lang="nb-NO" dirty="0"/>
              <a:t>Lager et mandat på seminar for ledelse, tillitsvalgte og fagkoordinatorer våren 2024. 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06854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301D94B-9A4F-71A9-2D6B-A40408EDD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000" b="1" dirty="0"/>
              <a:t>Oppstartfasen (vårsemesteret 2024) 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EF744F85-5D5C-19C5-A278-6FDEA6185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Etablering av KI-gruppa. Ukentlige møter. </a:t>
            </a:r>
          </a:p>
          <a:p>
            <a:r>
              <a:rPr lang="nb-NO" dirty="0"/>
              <a:t>Deltagelse på kurs og kompetansehevingstiltak </a:t>
            </a:r>
          </a:p>
          <a:p>
            <a:pPr lvl="1"/>
            <a:r>
              <a:rPr lang="nb-NO" dirty="0"/>
              <a:t>Teknisk Museum</a:t>
            </a:r>
          </a:p>
          <a:p>
            <a:pPr lvl="1"/>
            <a:r>
              <a:rPr lang="nb-NO" dirty="0"/>
              <a:t>Utdanningsetaten</a:t>
            </a:r>
          </a:p>
          <a:p>
            <a:r>
              <a:rPr lang="nb-NO" dirty="0"/>
              <a:t>Utprøving av </a:t>
            </a:r>
            <a:r>
              <a:rPr lang="nb-NO" dirty="0" err="1"/>
              <a:t>prateroboter</a:t>
            </a:r>
            <a:r>
              <a:rPr lang="nb-NO" dirty="0"/>
              <a:t> i klasserommet (primært Osloskolens KI-løsning)</a:t>
            </a:r>
          </a:p>
          <a:p>
            <a:pPr lvl="1"/>
            <a:r>
              <a:rPr lang="nb-NO"/>
              <a:t>Klasseromsobservasjon</a:t>
            </a:r>
            <a:endParaRPr lang="nb-NO" dirty="0"/>
          </a:p>
          <a:p>
            <a:r>
              <a:rPr lang="nb-NO" dirty="0"/>
              <a:t>Planleggingsdager før sommeren: Skrevet et lokalt veiledningshefte for pedagogisk bruk av KI på Hellerud VGS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800645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1A5C06F-95B0-E1E9-81E0-F95450DEB1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000" b="1" dirty="0"/>
              <a:t>Modningsfasen (høst 2024 -&gt;)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89A00D6-184E-3387-CDC0-1C183B78F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b-NO" sz="2400" dirty="0"/>
              <a:t>Høst 2024 – holdt kurs i maskinlæring og språkmodeller for personalet på planleggingsdagene. </a:t>
            </a:r>
          </a:p>
          <a:p>
            <a:r>
              <a:rPr lang="nb-NO" sz="2400" dirty="0"/>
              <a:t>Blogg om KI – nye innlegg ca. hver 3.uke</a:t>
            </a:r>
          </a:p>
          <a:p>
            <a:r>
              <a:rPr lang="nb-NO" sz="2400" dirty="0"/>
              <a:t>Vår 2025 – kurs i fellestid. Lage gode systemledetekster. </a:t>
            </a:r>
            <a:r>
              <a:rPr lang="nb-NO" sz="2400" dirty="0" err="1"/>
              <a:t>Boter</a:t>
            </a:r>
            <a:r>
              <a:rPr lang="nb-NO" sz="2400" dirty="0"/>
              <a:t> for forenkling og produksjon av flervalgsoppgaver. </a:t>
            </a:r>
          </a:p>
          <a:p>
            <a:r>
              <a:rPr lang="nb-NO" sz="2400" dirty="0"/>
              <a:t>Vår 2025 – to av medlemmene deltok på NKUL i Trondheim</a:t>
            </a:r>
          </a:p>
          <a:p>
            <a:r>
              <a:rPr lang="nb-NO" sz="2400" dirty="0"/>
              <a:t>Planleggingsdager før sommeren: Laget et elevhefte om god bruk av KI. </a:t>
            </a:r>
          </a:p>
          <a:p>
            <a:r>
              <a:rPr lang="nb-NO" sz="2400" dirty="0"/>
              <a:t>Høst 2025 – medlemmer i KI-gruppa og fagkoordinatorer tar 5-stp kurs om bruk av KI i skolen på Høgskolen i Østfold</a:t>
            </a:r>
          </a:p>
          <a:p>
            <a:endParaRPr lang="nb-NO" sz="2400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347759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A88433E-DBA0-855D-57FB-24C7A445F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 dirty="0"/>
              <a:t>Suksessfaktorer:</a:t>
            </a:r>
            <a:endParaRPr lang="nb-NO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6D58DFD-2059-3F96-76BD-824A3343A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Ledelse som er interessert og villig til å satse på KI</a:t>
            </a:r>
          </a:p>
          <a:p>
            <a:pPr lvl="1"/>
            <a:r>
              <a:rPr lang="nb-NO" dirty="0"/>
              <a:t>Nedslag / lønn</a:t>
            </a:r>
          </a:p>
          <a:p>
            <a:pPr lvl="1"/>
            <a:r>
              <a:rPr lang="nb-NO" dirty="0"/>
              <a:t>Utgifter til vikar / kurs</a:t>
            </a:r>
          </a:p>
          <a:p>
            <a:pPr lvl="1"/>
            <a:r>
              <a:rPr lang="nb-NO" dirty="0"/>
              <a:t>Tid i fellestid og planleggingsdager</a:t>
            </a:r>
          </a:p>
          <a:p>
            <a:r>
              <a:rPr lang="nb-NO" dirty="0"/>
              <a:t>Noen ansatte som kan gå foran. Har eller kan skaffe seg kompetanse. </a:t>
            </a:r>
          </a:p>
          <a:p>
            <a:r>
              <a:rPr lang="nb-NO" dirty="0"/>
              <a:t>God struktur og faste møtepunkter (ukentlige møter)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066718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3E9086E-4DF8-BEA7-182C-8C499D1E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b-NO" sz="4000" b="1" dirty="0"/>
              <a:t>Hva gjenstår: </a:t>
            </a:r>
            <a:endParaRPr lang="nb-NO" sz="4000" dirty="0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221AE9A2-EBA9-7C13-7B24-831BF3B6B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 dirty="0"/>
              <a:t>Overgang teori/planlegging -&gt; praksis</a:t>
            </a:r>
          </a:p>
          <a:p>
            <a:r>
              <a:rPr lang="nb-NO" dirty="0"/>
              <a:t>De sikreste modellene (Osloskolens KI) er ikke de beste. </a:t>
            </a:r>
            <a:br>
              <a:rPr lang="nb-NO" dirty="0"/>
            </a:br>
            <a:r>
              <a:rPr lang="nb-NO" dirty="0"/>
              <a:t>Hvordan få elever til å velge dårlige løsninger?</a:t>
            </a:r>
          </a:p>
          <a:p>
            <a:pPr lvl="0"/>
            <a:r>
              <a:rPr lang="nb-NO" dirty="0"/>
              <a:t>Vanskelig å vite i hvor stor grad lærerne faktisk leser/bruker materialet vi har produsert. </a:t>
            </a:r>
          </a:p>
          <a:p>
            <a:pPr lvl="0"/>
            <a:r>
              <a:rPr lang="nb-NO" dirty="0"/>
              <a:t>Sterkere tilknytning mellom KI-gruppa, ledelse og lærere.</a:t>
            </a:r>
          </a:p>
          <a:p>
            <a:pPr marL="0" indent="0">
              <a:buNone/>
            </a:pP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43579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4C799A7B5429459E5580079B5EAEE2" ma:contentTypeVersion="8" ma:contentTypeDescription="Opprett et nytt dokument." ma:contentTypeScope="" ma:versionID="06c2281f571f40b21221962f81f5e5f1">
  <xsd:schema xmlns:xsd="http://www.w3.org/2001/XMLSchema" xmlns:xs="http://www.w3.org/2001/XMLSchema" xmlns:p="http://schemas.microsoft.com/office/2006/metadata/properties" xmlns:ns2="885d74d7-005c-4d84-952b-beb745f451f5" targetNamespace="http://schemas.microsoft.com/office/2006/metadata/properties" ma:root="true" ma:fieldsID="6ca2f1aa9bda800c25c1b17dfd44914e" ns2:_="">
    <xsd:import namespace="885d74d7-005c-4d84-952b-beb745f451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5d74d7-005c-4d84-952b-beb745f451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247ED05-7658-4CE5-8EE3-4DE5021164D3}"/>
</file>

<file path=customXml/itemProps2.xml><?xml version="1.0" encoding="utf-8"?>
<ds:datastoreItem xmlns:ds="http://schemas.openxmlformats.org/officeDocument/2006/customXml" ds:itemID="{496129ED-8E9A-48FF-9144-E6118E06F3AA}"/>
</file>

<file path=customXml/itemProps3.xml><?xml version="1.0" encoding="utf-8"?>
<ds:datastoreItem xmlns:ds="http://schemas.openxmlformats.org/officeDocument/2006/customXml" ds:itemID="{3C15BB39-E51B-4BA4-9447-3ED4AD550A6D}"/>
</file>

<file path=docMetadata/LabelInfo.xml><?xml version="1.0" encoding="utf-8"?>
<clbl:labelList xmlns:clbl="http://schemas.microsoft.com/office/2020/mipLabelMetadata">
  <clbl:label id="{a5a66368-d49e-4bf5-af9a-6ccbf48e6655}" enabled="0" method="" siteId="{a5a66368-d49e-4bf5-af9a-6ccbf48e665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489</Words>
  <Application>Microsoft Macintosh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Office-tema</vt:lpstr>
      <vt:lpstr>KI-gruppa – Hellerud vgs</vt:lpstr>
      <vt:lpstr>Utdrag fra mandat for KI-gruppa –  utarbeidet av ledelse, tillitsvalgte og fagkoordinatorer</vt:lpstr>
      <vt:lpstr>Bakgrunn for opprettelsen av KI-gruppa</vt:lpstr>
      <vt:lpstr>PowerPoint-presentasjon</vt:lpstr>
      <vt:lpstr>Oppstartfasen (vårsemesteret 2024) </vt:lpstr>
      <vt:lpstr>Modningsfasen (høst 2024 -&gt;)</vt:lpstr>
      <vt:lpstr>Suksessfaktorer:</vt:lpstr>
      <vt:lpstr>Hva gjenstår: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Erling Midtgard</dc:creator>
  <cp:lastModifiedBy>Erling Midtgard</cp:lastModifiedBy>
  <cp:revision>2</cp:revision>
  <dcterms:created xsi:type="dcterms:W3CDTF">2025-09-08T12:53:57Z</dcterms:created>
  <dcterms:modified xsi:type="dcterms:W3CDTF">2025-09-08T14:59:02Z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0x010100524C799A7B5429459E5580079B5EAEE2</vt:lpwstr>
  </property>
</Properties>
</file>